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79" r:id="rId14"/>
    <p:sldId id="280" r:id="rId15"/>
    <p:sldId id="281" r:id="rId16"/>
    <p:sldId id="28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CE6"/>
    <a:srgbClr val="E7E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7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70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3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28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66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28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44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5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3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96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168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212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2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DCB23-DA51-4D58-9776-AB96892932B1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164C315-E308-4099-9001-66884FF0B9F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6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0C1C-7A34-704F-19E5-C9D31DA05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3871" y="1734196"/>
            <a:ext cx="7504257" cy="153697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Electronic Voting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CAA58-A6ED-6957-FC13-566FD91CA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7816" y="3998453"/>
            <a:ext cx="6916366" cy="1442329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Project Report Presentation</a:t>
            </a:r>
          </a:p>
          <a:p>
            <a:pPr algn="ctr"/>
            <a:r>
              <a:rPr lang="en-US" sz="1100" dirty="0"/>
              <a:t>Database System — SWEG2108</a:t>
            </a:r>
          </a:p>
          <a:p>
            <a:pPr algn="ctr"/>
            <a:r>
              <a:rPr lang="en-US" sz="1100" dirty="0"/>
              <a:t>Submitted to: Dr. Yaynshet Medhin</a:t>
            </a:r>
          </a:p>
          <a:p>
            <a:pPr algn="ctr"/>
            <a:r>
              <a:rPr lang="en-US" sz="1100" dirty="0"/>
              <a:t>May 2026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8A0CF1-4F43-EF04-243E-C2E9BC412122}"/>
              </a:ext>
            </a:extLst>
          </p:cNvPr>
          <p:cNvCxnSpPr/>
          <p:nvPr/>
        </p:nvCxnSpPr>
        <p:spPr>
          <a:xfrm>
            <a:off x="1645594" y="3685172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68430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C3CD-3749-D285-04E5-8CD78F4F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529" y="893065"/>
            <a:ext cx="9603275" cy="1049235"/>
          </a:xfrm>
        </p:spPr>
        <p:txBody>
          <a:bodyPr/>
          <a:lstStyle/>
          <a:p>
            <a:r>
              <a:rPr lang="en-US" dirty="0"/>
              <a:t>The Problem We Are Solving</a:t>
            </a:r>
          </a:p>
        </p:txBody>
      </p:sp>
      <p:sp useBgFill="1">
        <p:nvSpPr>
          <p:cNvPr id="3" name="Content Placeholder 2">
            <a:extLst>
              <a:ext uri="{FF2B5EF4-FFF2-40B4-BE49-F238E27FC236}">
                <a16:creationId xmlns:a16="http://schemas.microsoft.com/office/drawing/2014/main" id="{622C2734-BD75-EC21-033E-22852514A7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479" y="2046079"/>
            <a:ext cx="10483434" cy="44746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National Election Board of Ethiopia (NEBE) currently relies on manual, paper-based election processes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Key problems identified: Long waiting times during voter registration and voting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Human errors in vote counting and result compilation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Risk of duplicate voting and voter fraud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 operational costs due to paper and manual labor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Delays in announcing election 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Limited data security and difficulty maintaining accurate records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These challenges undermine the efficiency, transparency, and integrity of the election process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37D967-07DE-C692-7AB3-7B872C5D306E}"/>
              </a:ext>
            </a:extLst>
          </p:cNvPr>
          <p:cNvCxnSpPr/>
          <p:nvPr/>
        </p:nvCxnSpPr>
        <p:spPr>
          <a:xfrm>
            <a:off x="1507788" y="1692612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6856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DAC1-098B-EDCA-8079-3C7CC4E0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109741" cy="667665"/>
          </a:xfrm>
        </p:spPr>
        <p:txBody>
          <a:bodyPr/>
          <a:lstStyle/>
          <a:p>
            <a:r>
              <a:rPr lang="en-US" dirty="0"/>
              <a:t>Why This System and What It Aims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D6EA-CC19-6DC0-42EF-5A1019B9CC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4361" y="1693892"/>
            <a:ext cx="10672996" cy="48792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Motivation: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Growing electorate demands a modern, reliable system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Public trust in elections depends on accuracy and transparency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Digital transformation is essential for credible governance</a:t>
            </a:r>
          </a:p>
          <a:p>
            <a:r>
              <a:rPr lang="en-US" dirty="0"/>
              <a:t>General Objective: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 design and develop a secure, reliable, and efficient Electronic Voting System for NEBE</a:t>
            </a:r>
          </a:p>
          <a:p>
            <a:r>
              <a:rPr lang="en-US" dirty="0"/>
              <a:t>Key Specific Objectives: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Automate voter registration and vote casting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Prevent duplicate voting through database constraints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Automate vote counting and result generation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Reduce paperwork and operational costs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Maintain confidentiality and integrity of election data</a:t>
            </a:r>
          </a:p>
          <a:p>
            <a:pPr lvl="1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993059-FEE9-8859-29C2-1A82CF35008A}"/>
              </a:ext>
            </a:extLst>
          </p:cNvPr>
          <p:cNvCxnSpPr/>
          <p:nvPr/>
        </p:nvCxnSpPr>
        <p:spPr>
          <a:xfrm>
            <a:off x="914087" y="1472184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95020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C4899-80A5-DF88-B57C-C9BD99DB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19" y="654981"/>
            <a:ext cx="10068362" cy="1049235"/>
          </a:xfrm>
        </p:spPr>
        <p:txBody>
          <a:bodyPr/>
          <a:lstStyle/>
          <a:p>
            <a:r>
              <a:rPr lang="en-US" dirty="0"/>
              <a:t>What the System Covers and How It Was Built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AD770-D3F6-C6A1-3C97-A11CF0DF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77" y="2223086"/>
            <a:ext cx="10740061" cy="4957202"/>
          </a:xfrm>
        </p:spPr>
        <p:txBody>
          <a:bodyPr/>
          <a:lstStyle/>
          <a:p>
            <a:r>
              <a:rPr lang="en-US" dirty="0"/>
              <a:t>Scope covers 6 functional areas: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Voter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Candidate and Party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Polling Station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Voting Process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Result Management and Reporting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Administrative Functions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F71AA5-3DA7-A238-1C35-1CDC6C9C4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468271"/>
              </p:ext>
            </p:extLst>
          </p:nvPr>
        </p:nvGraphicFramePr>
        <p:xfrm>
          <a:off x="5269042" y="2778207"/>
          <a:ext cx="6735581" cy="274320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3329409">
                  <a:extLst>
                    <a:ext uri="{9D8B030D-6E8A-4147-A177-3AD203B41FA5}">
                      <a16:colId xmlns:a16="http://schemas.microsoft.com/office/drawing/2014/main" val="1128301454"/>
                    </a:ext>
                  </a:extLst>
                </a:gridCol>
                <a:gridCol w="3406172">
                  <a:extLst>
                    <a:ext uri="{9D8B030D-6E8A-4147-A177-3AD203B41FA5}">
                      <a16:colId xmlns:a16="http://schemas.microsoft.com/office/drawing/2014/main" val="302555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Tool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724234"/>
                  </a:ext>
                </a:extLst>
              </a:tr>
              <a:tr h="248398">
                <a:tc>
                  <a:txBody>
                    <a:bodyPr/>
                    <a:lstStyle/>
                    <a:p>
                      <a:r>
                        <a:rPr lang="en-US" sz="1800" dirty="0"/>
                        <a:t>MySQL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Relational database implementation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569763"/>
                  </a:ext>
                </a:extLst>
              </a:tr>
              <a:tr h="248398">
                <a:tc>
                  <a:txBody>
                    <a:bodyPr/>
                    <a:lstStyle/>
                    <a:p>
                      <a:r>
                        <a:rPr lang="en-US" sz="1800" dirty="0"/>
                        <a:t>MongoDB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NoSQL flexible data storage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8730870"/>
                  </a:ext>
                </a:extLst>
              </a:tr>
              <a:tr h="248398">
                <a:tc>
                  <a:txBody>
                    <a:bodyPr/>
                    <a:lstStyle/>
                    <a:p>
                      <a:r>
                        <a:rPr lang="en-US" sz="1800"/>
                        <a:t>Draw.io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ER diagram design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8583954"/>
                  </a:ext>
                </a:extLst>
              </a:tr>
              <a:tr h="248398">
                <a:tc>
                  <a:txBody>
                    <a:bodyPr/>
                    <a:lstStyle/>
                    <a:p>
                      <a:r>
                        <a:rPr lang="en-US" sz="1800" dirty="0"/>
                        <a:t>GitHub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Version control and collaboration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0202511"/>
                  </a:ext>
                </a:extLst>
              </a:tr>
              <a:tr h="248398">
                <a:tc>
                  <a:txBody>
                    <a:bodyPr/>
                    <a:lstStyle/>
                    <a:p>
                      <a:r>
                        <a:rPr lang="en-US" sz="1800" dirty="0"/>
                        <a:t>Google Docs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Documentation and report preparation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89906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2EE431-D190-E761-F5E1-08AF5C2688CC}"/>
              </a:ext>
            </a:extLst>
          </p:cNvPr>
          <p:cNvSpPr txBox="1"/>
          <p:nvPr/>
        </p:nvSpPr>
        <p:spPr>
          <a:xfrm>
            <a:off x="5269042" y="2313862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Tools and Technologies Used: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98E5B6-3379-07D6-A7AC-FC783F297928}"/>
              </a:ext>
            </a:extLst>
          </p:cNvPr>
          <p:cNvCxnSpPr/>
          <p:nvPr/>
        </p:nvCxnSpPr>
        <p:spPr>
          <a:xfrm>
            <a:off x="1455400" y="1383271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21386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4F40-8BF7-1728-2095-6A536B8A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090" y="471004"/>
            <a:ext cx="6503701" cy="735524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Design — The Blueprint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231E4-19B3-983D-F766-42338B5050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7" y="1380744"/>
            <a:ext cx="10387585" cy="46303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system uses a dual-database approach: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MySQL — structured relational data with strict integrity constraints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MongoDB — flexible document-oriented storage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database consists of 7 core entities: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Region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Voter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Party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Candidate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Polling Station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Vote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Admin			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F62CE1-4483-9331-1E43-0F2ED7A7BB0C}"/>
              </a:ext>
            </a:extLst>
          </p:cNvPr>
          <p:cNvCxnSpPr/>
          <p:nvPr/>
        </p:nvCxnSpPr>
        <p:spPr>
          <a:xfrm>
            <a:off x="1546698" y="1138136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A1E881-00DD-7D1B-1D6E-BFF25660F5C2}"/>
              </a:ext>
            </a:extLst>
          </p:cNvPr>
          <p:cNvSpPr txBox="1"/>
          <p:nvPr/>
        </p:nvSpPr>
        <p:spPr>
          <a:xfrm>
            <a:off x="5690060" y="2962658"/>
            <a:ext cx="51864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Design follows three layers: 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Conceptual Design — ER Diagram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Logical Design — Schema with data types and constraints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Physical Design — SQL and MongoDB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12486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BEE852-90F8-9B1F-68FC-E4F0D00F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7CE12B-9869-89BA-546B-2037889E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92" y="965606"/>
            <a:ext cx="3273099" cy="544292"/>
          </a:xfrm>
        </p:spPr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9" name="Content Placeholder 8" descr="A diagram of a network&#10;&#10;AI-generated content may be incorrect.">
            <a:extLst>
              <a:ext uri="{FF2B5EF4-FFF2-40B4-BE49-F238E27FC236}">
                <a16:creationId xmlns:a16="http://schemas.microsoft.com/office/drawing/2014/main" id="{424E10AE-137B-FF99-1AA9-4FCB97E0C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72" y="965606"/>
            <a:ext cx="7266391" cy="582977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A4AC7E-90E0-0C71-6554-4D35D4FC8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334" y="1852178"/>
            <a:ext cx="3700957" cy="3722003"/>
          </a:xfrm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Key relationships visible in the diagram: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Voter casts Vote (1:1)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Candidate receives Vote (1:N)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Party nominates Candidate (1:N)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Region has Voter (1:N)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Polling Station records Vote (1:N)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Admin manages Voter and Polling Station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3701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2405F61-BD29-DA36-4BA0-E9D554F5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38835"/>
            <a:ext cx="3478459" cy="760781"/>
          </a:xfrm>
        </p:spPr>
        <p:txBody>
          <a:bodyPr>
            <a:normAutofit/>
          </a:bodyPr>
          <a:lstStyle/>
          <a:p>
            <a:r>
              <a:rPr lang="en-US" dirty="0"/>
              <a:t>Logical Design</a:t>
            </a:r>
          </a:p>
        </p:txBody>
      </p:sp>
      <p:pic>
        <p:nvPicPr>
          <p:cNvPr id="20" name="Content Placeholder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B65BA1-2CF2-5AE3-ECB4-8C0CC3312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165" y="738835"/>
            <a:ext cx="6531459" cy="5800168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69E66AC-5A36-B839-C4A7-95A28A8B5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2730" y="1640038"/>
            <a:ext cx="4176979" cy="4672979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Key design decisions: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Each entity becomes a relational table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Primary keys uniquely identify each record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Foreign keys enforce relationships between tables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UNIQUE constraints prevent duplicate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Critical constraint: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voter_id</a:t>
            </a:r>
            <a:r>
              <a:rPr lang="en-US" sz="1600" dirty="0"/>
              <a:t> in Vote table is UNIQUE — enforces one vote per voter at database level</a:t>
            </a:r>
          </a:p>
        </p:txBody>
      </p:sp>
    </p:spTree>
    <p:extLst>
      <p:ext uri="{BB962C8B-B14F-4D97-AF65-F5344CB8AC3E}">
        <p14:creationId xmlns:p14="http://schemas.microsoft.com/office/powerpoint/2010/main" val="143981125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742E7C-818E-DCAD-F229-224959BC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249" y="547134"/>
            <a:ext cx="9603275" cy="819455"/>
          </a:xfrm>
        </p:spPr>
        <p:txBody>
          <a:bodyPr/>
          <a:lstStyle/>
          <a:p>
            <a:r>
              <a:rPr lang="en-US" dirty="0"/>
              <a:t>Entities and Their Relationships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8FF3C21-62F3-8DD0-3608-B7E5AC7A5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843760"/>
              </p:ext>
            </p:extLst>
          </p:nvPr>
        </p:nvGraphicFramePr>
        <p:xfrm>
          <a:off x="1293812" y="2402334"/>
          <a:ext cx="9604376" cy="329184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2401094">
                  <a:extLst>
                    <a:ext uri="{9D8B030D-6E8A-4147-A177-3AD203B41FA5}">
                      <a16:colId xmlns:a16="http://schemas.microsoft.com/office/drawing/2014/main" val="3215910269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461067658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879917016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10744832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Entity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Entity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406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Belongs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Many-to-One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4211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Located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Polling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Many-to-One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3169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Nominates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0841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Casts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419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Receives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6280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Records votes 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Polling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410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Manages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9959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Manages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Polling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643758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3DEE00-7F16-3915-848D-13C058F5A080}"/>
              </a:ext>
            </a:extLst>
          </p:cNvPr>
          <p:cNvSpPr txBox="1">
            <a:spLocks/>
          </p:cNvSpPr>
          <p:nvPr/>
        </p:nvSpPr>
        <p:spPr>
          <a:xfrm>
            <a:off x="6096000" y="1351625"/>
            <a:ext cx="5641848" cy="4483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CCA6D-54EE-8F99-D290-153F528040E6}"/>
              </a:ext>
            </a:extLst>
          </p:cNvPr>
          <p:cNvSpPr txBox="1"/>
          <p:nvPr/>
        </p:nvSpPr>
        <p:spPr>
          <a:xfrm>
            <a:off x="1585570" y="1891944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summarizing all relationships: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09AEF5-5F05-7E45-0740-3163FEE901C2}"/>
              </a:ext>
            </a:extLst>
          </p:cNvPr>
          <p:cNvCxnSpPr/>
          <p:nvPr/>
        </p:nvCxnSpPr>
        <p:spPr>
          <a:xfrm>
            <a:off x="1704117" y="1351625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34034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4310-5412-EBBE-EE18-5AE16F27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995" y="740351"/>
            <a:ext cx="7465703" cy="1049235"/>
          </a:xfrm>
        </p:spPr>
        <p:txBody>
          <a:bodyPr/>
          <a:lstStyle/>
          <a:p>
            <a:r>
              <a:rPr lang="en-US" dirty="0"/>
              <a:t>Implementation — MySQL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8E95D-06F0-FE88-B384-1DCC52BF84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871841"/>
            <a:ext cx="10363826" cy="3424107"/>
          </a:xfrm>
        </p:spPr>
        <p:txBody>
          <a:bodyPr>
            <a:normAutofit/>
          </a:bodyPr>
          <a:lstStyle/>
          <a:p>
            <a:r>
              <a:rPr lang="en-US" dirty="0"/>
              <a:t>Database created: </a:t>
            </a:r>
            <a:r>
              <a:rPr lang="en-US" dirty="0" err="1"/>
              <a:t>Voting_System</a:t>
            </a:r>
            <a:endParaRPr lang="en-US" dirty="0"/>
          </a:p>
          <a:p>
            <a:r>
              <a:rPr lang="en-US" dirty="0"/>
              <a:t>7 tables created successfully:</a:t>
            </a:r>
          </a:p>
          <a:p>
            <a:pPr lvl="1"/>
            <a:r>
              <a:rPr lang="en-US" dirty="0"/>
              <a:t>region, voter, party, candidate, </a:t>
            </a:r>
            <a:r>
              <a:rPr lang="en-US" dirty="0" err="1"/>
              <a:t>polling_station</a:t>
            </a:r>
            <a:r>
              <a:rPr lang="en-US" dirty="0"/>
              <a:t>, vote, admin</a:t>
            </a:r>
          </a:p>
          <a:p>
            <a:r>
              <a:rPr lang="en-US" dirty="0"/>
              <a:t>SQL Constraints applied:</a:t>
            </a:r>
          </a:p>
          <a:p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9DACAB-1E38-9478-D88B-478C9183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59777"/>
              </p:ext>
            </p:extLst>
          </p:nvPr>
        </p:nvGraphicFramePr>
        <p:xfrm>
          <a:off x="1143736" y="3718998"/>
          <a:ext cx="9604374" cy="219456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942715907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3001719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2514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Uniquely identifies each 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131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FOREIGN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Creates relationships between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8047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Prevents duplicate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070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AUTO_INCREMENT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generates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3753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Assigns default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552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6BDD8D-CFC3-4315-AB3C-1A57F9F0015D}"/>
              </a:ext>
            </a:extLst>
          </p:cNvPr>
          <p:cNvSpPr txBox="1"/>
          <p:nvPr/>
        </p:nvSpPr>
        <p:spPr>
          <a:xfrm>
            <a:off x="914087" y="6117649"/>
            <a:ext cx="8215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Sample data inserted into all 7 tables to simulate a real election environment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4973A4-9AD0-76AE-F678-61A5FF93B5F6}"/>
              </a:ext>
            </a:extLst>
          </p:cNvPr>
          <p:cNvCxnSpPr/>
          <p:nvPr/>
        </p:nvCxnSpPr>
        <p:spPr>
          <a:xfrm>
            <a:off x="1491975" y="1438656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15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5A6B-A7DF-A658-6948-5E43FC0D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758" y="683313"/>
            <a:ext cx="9603275" cy="1049235"/>
          </a:xfrm>
        </p:spPr>
        <p:txBody>
          <a:bodyPr/>
          <a:lstStyle/>
          <a:p>
            <a:r>
              <a:rPr lang="en-US" dirty="0"/>
              <a:t>Implementation — Vote Counting Query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3092CC-E009-BBC7-6BF0-CA0CBC33C8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32548"/>
            <a:ext cx="10363826" cy="40586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 SQL query was implemented to calculate election results: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Key SQL operations used: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LEFT JOIN — connects candidate, party, and vote tables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COUNT — calculates total votes per candidate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GROUP BY — groups records by candidate and party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ORDER BY DESC — sorts results from highest to lowest votes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7963C-EC43-C9BD-FE33-C5349D173D4A}"/>
              </a:ext>
            </a:extLst>
          </p:cNvPr>
          <p:cNvSpPr txBox="1"/>
          <p:nvPr/>
        </p:nvSpPr>
        <p:spPr>
          <a:xfrm>
            <a:off x="1414758" y="2186566"/>
            <a:ext cx="8566725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SELECT c.candidate_name,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p.party_name,COUNT(v.vote_id) AS total_votes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FROM candidate c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LEFT JOIN party p ON c.party_id = p.party_id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LEFT JOIN vote v ON c.candidate_id = v.candidate_id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GROUP BY c.candidate_id, c.candidate_name, p.party_name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ORDER BY total_votes DESC;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8541D1-DDDD-EE57-1686-5ABC25E21F92}"/>
              </a:ext>
            </a:extLst>
          </p:cNvPr>
          <p:cNvCxnSpPr/>
          <p:nvPr/>
        </p:nvCxnSpPr>
        <p:spPr>
          <a:xfrm>
            <a:off x="1645595" y="1219200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3235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7723-43DB-DCE4-70AF-5449CC8E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908" y="542183"/>
            <a:ext cx="5645614" cy="677017"/>
          </a:xfrm>
        </p:spPr>
        <p:txBody>
          <a:bodyPr>
            <a:normAutofit fontScale="90000"/>
          </a:bodyPr>
          <a:lstStyle/>
          <a:p>
            <a:r>
              <a:rPr lang="en-US" dirty="0"/>
              <a:t>MongoDB NoSQL Database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C2BB3D-AE73-CC8D-D909-DCA05A0827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52337"/>
            <a:ext cx="10363826" cy="41388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6 collections created mirroring MySQL tables: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regions, parties, </a:t>
            </a:r>
            <a:r>
              <a:rPr lang="en-US" sz="1800" dirty="0" err="1"/>
              <a:t>polling_stations</a:t>
            </a:r>
            <a:r>
              <a:rPr lang="en-US" sz="1800" dirty="0"/>
              <a:t>, voters, candidates,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4 queries implemented: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MongoDB provides flexible, schema-free document storage as a complement to the structured MySQL database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464D5C-C221-38DF-5996-A8205E31E803}"/>
              </a:ext>
            </a:extLst>
          </p:cNvPr>
          <p:cNvCxnSpPr/>
          <p:nvPr/>
        </p:nvCxnSpPr>
        <p:spPr>
          <a:xfrm>
            <a:off x="1645595" y="1219200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11677D-E3B0-1346-1B46-2BC6115C8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27244"/>
              </p:ext>
            </p:extLst>
          </p:nvPr>
        </p:nvGraphicFramePr>
        <p:xfrm>
          <a:off x="1293500" y="2908840"/>
          <a:ext cx="9604374" cy="21031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2776882459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71440574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214822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SQL Equivalent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1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insertOne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Insert new voter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INSERT INTO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309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$lookup on candidates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Join candidates with party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LEFT JOIN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4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$group and $lookup on votes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Count total votes per 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COUNT and GROUP 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59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find by </a:t>
                      </a:r>
                      <a:r>
                        <a:rPr lang="en-US" dirty="0" err="1"/>
                        <a:t>region_code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Filter voters by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999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408650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FC7D-0E60-122B-BF6A-DDE335E9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294" y="739606"/>
            <a:ext cx="9603275" cy="1049235"/>
          </a:xfrm>
        </p:spPr>
        <p:txBody>
          <a:bodyPr/>
          <a:lstStyle/>
          <a:p>
            <a:r>
              <a:rPr lang="en-US" dirty="0"/>
              <a:t>Input, Output and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7134-8BF0-AE5E-DD0B-A11485ED14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645053"/>
            <a:ext cx="10363826" cy="34241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 Input Forms designed: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Voter Registration, Candidate Registration, Political Party, Polling Station, Voting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 Output Displays designed: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Voter Information, Candidate Information, Election Results, Polling Station, Notification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6 Reports designed: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C0C007-53D1-4962-645C-A5225D16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27" y="1425245"/>
            <a:ext cx="8924925" cy="2857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1AD0AE-331B-B3D2-AFA3-B6190DE60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781349"/>
              </p:ext>
            </p:extLst>
          </p:nvPr>
        </p:nvGraphicFramePr>
        <p:xfrm>
          <a:off x="914087" y="3932787"/>
          <a:ext cx="9604374" cy="25603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4175099743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6746056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1646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Registered Voters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Displays all registered voters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3101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Election Result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Shows votes and percentages per party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409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Candidate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Lists all candidates and their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1748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Polling Station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Shows all station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0512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Invalid Vote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Flags duplicate or invalid votes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5838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Admin Activity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all admin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264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79067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9171D-F75E-536D-F307-B202A096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060" y="728099"/>
            <a:ext cx="9603275" cy="1049235"/>
          </a:xfrm>
        </p:spPr>
        <p:txBody>
          <a:bodyPr/>
          <a:lstStyle/>
          <a:p>
            <a:r>
              <a:rPr lang="en-US" dirty="0"/>
              <a:t>Normalization — From UNF to BCNF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F27E00-0C5F-0DAD-9268-9BCF4983E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03693"/>
            <a:ext cx="9799199" cy="4814150"/>
          </a:xfrm>
        </p:spPr>
        <p:txBody>
          <a:bodyPr>
            <a:normAutofit/>
          </a:bodyPr>
          <a:lstStyle/>
          <a:p>
            <a:r>
              <a:rPr lang="en-US" dirty="0"/>
              <a:t>Normalization was applied across all 7 tables</a:t>
            </a:r>
          </a:p>
          <a:p>
            <a:r>
              <a:rPr lang="en-US" dirty="0"/>
              <a:t>Stages completed: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7 tables confirmed to be in BCNF: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Region, Voter, Party, Candidate, Polling Station, Vote, Admin</a:t>
            </a:r>
          </a:p>
          <a:p>
            <a:r>
              <a:rPr lang="en-US" dirty="0"/>
              <a:t>Key outcome — data redundancy eliminated, integrity enforced, anomalies prevented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AA6C3-FE35-036A-9ECC-941790DCA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1461553"/>
            <a:ext cx="8924925" cy="285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E51890-40F0-ACF4-1819-0FEB5E7A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049817"/>
              </p:ext>
            </p:extLst>
          </p:nvPr>
        </p:nvGraphicFramePr>
        <p:xfrm>
          <a:off x="1450480" y="2614200"/>
          <a:ext cx="9604374" cy="246888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06317617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75513858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What Was 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701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Identified redundancy in flat single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462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All attributes made atomic, primary keys assigned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55559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/>
                        <a:t>2NF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Partial dependencies removed, single-attribute PKs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740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Transitive dependencies eliminated from all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3682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BCNF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Every determinant confirmed as a candidate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44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85929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828B-7E26-B5EC-947F-766ECE41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548487"/>
            <a:ext cx="9603275" cy="1049235"/>
          </a:xfrm>
        </p:spPr>
        <p:txBody>
          <a:bodyPr/>
          <a:lstStyle/>
          <a:p>
            <a:pPr algn="ctr"/>
            <a:r>
              <a:rPr lang="en-US" dirty="0"/>
              <a:t>What Was Achieved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F0B49FF-F901-9344-8B0C-0D85E4671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459765"/>
              </p:ext>
            </p:extLst>
          </p:nvPr>
        </p:nvGraphicFramePr>
        <p:xfrm>
          <a:off x="1293812" y="1964282"/>
          <a:ext cx="9604376" cy="402336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4802188">
                  <a:extLst>
                    <a:ext uri="{9D8B030D-6E8A-4147-A177-3AD203B41FA5}">
                      <a16:colId xmlns:a16="http://schemas.microsoft.com/office/drawing/2014/main" val="2223069381"/>
                    </a:ext>
                  </a:extLst>
                </a:gridCol>
                <a:gridCol w="4802188">
                  <a:extLst>
                    <a:ext uri="{9D8B030D-6E8A-4147-A177-3AD203B41FA5}">
                      <a16:colId xmlns:a16="http://schemas.microsoft.com/office/drawing/2014/main" val="1910842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02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MySQL Database (7 tables)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79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SQL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25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Sample Data Insertion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059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Vote Counting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25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MongoDB (6 collections)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373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MongoDB Queries 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08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Input Design (5 forms)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5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Output Design (5 displays)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466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Report Design (6 reports)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225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Normalization up to BCNF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1197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E11F3F4-C7E8-AF6A-F183-40B0CE7A7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1228390"/>
            <a:ext cx="8924925" cy="28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DA9297-5F3A-17EA-B8E1-EC16F201E99A}"/>
              </a:ext>
            </a:extLst>
          </p:cNvPr>
          <p:cNvSpPr txBox="1"/>
          <p:nvPr/>
        </p:nvSpPr>
        <p:spPr>
          <a:xfrm>
            <a:off x="1451578" y="1512460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Implementation Summary: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DD6D7B-A9A6-8E85-8BE2-A1A20B6CBC23}"/>
              </a:ext>
            </a:extLst>
          </p:cNvPr>
          <p:cNvSpPr txBox="1"/>
          <p:nvPr/>
        </p:nvSpPr>
        <p:spPr>
          <a:xfrm>
            <a:off x="956462" y="6031036"/>
            <a:ext cx="867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system successfully prevents duplicate voting, automates vote counting, and generates accurate election results</a:t>
            </a:r>
          </a:p>
        </p:txBody>
      </p:sp>
    </p:spTree>
    <p:extLst>
      <p:ext uri="{BB962C8B-B14F-4D97-AF65-F5344CB8AC3E}">
        <p14:creationId xmlns:p14="http://schemas.microsoft.com/office/powerpoint/2010/main" val="236873573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C363-777F-E223-14EB-7B51181B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039B-0329-64AB-818D-64271DF4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542" y="2015733"/>
            <a:ext cx="9816998" cy="3448722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Electronic Voting System database was successfully designed, implemented, and normalized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system addresses all identified problems of the manual election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Both MySQL and MongoDB implementations are functional and verified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one-voter-one-vote rule is enforced at the database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system strengthens democratic governance in Ethiopia</a:t>
            </a:r>
          </a:p>
          <a:p>
            <a:endParaRPr lang="en-US" sz="3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2609BC-1ABD-AEB8-DC4A-3B19BBEB12C4}"/>
              </a:ext>
            </a:extLst>
          </p:cNvPr>
          <p:cNvCxnSpPr/>
          <p:nvPr/>
        </p:nvCxnSpPr>
        <p:spPr>
          <a:xfrm>
            <a:off x="1271896" y="1571575"/>
            <a:ext cx="890080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975306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1863B3-837F-A6CE-5E37-980D9DB3702F}"/>
              </a:ext>
            </a:extLst>
          </p:cNvPr>
          <p:cNvSpPr/>
          <p:nvPr/>
        </p:nvSpPr>
        <p:spPr>
          <a:xfrm>
            <a:off x="2886087" y="388320"/>
            <a:ext cx="5230459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2AA3D-C9F2-AC0F-2F9D-DD125514D931}"/>
              </a:ext>
            </a:extLst>
          </p:cNvPr>
          <p:cNvSpPr txBox="1"/>
          <p:nvPr/>
        </p:nvSpPr>
        <p:spPr>
          <a:xfrm>
            <a:off x="1975390" y="2172425"/>
            <a:ext cx="70518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GROUP MEMBERS					 ID</a:t>
            </a:r>
          </a:p>
          <a:p>
            <a:endParaRPr lang="en-US" sz="2400" dirty="0"/>
          </a:p>
          <a:p>
            <a:r>
              <a:rPr lang="en-US" sz="2400" dirty="0"/>
              <a:t>1.ABEL ALEM 						ETS0022/17</a:t>
            </a:r>
          </a:p>
          <a:p>
            <a:r>
              <a:rPr lang="en-US" sz="2400" dirty="0"/>
              <a:t>2. ALAZAR WALLE 				ETS 0127/17</a:t>
            </a:r>
          </a:p>
          <a:p>
            <a:r>
              <a:rPr lang="en-US" sz="2400" dirty="0"/>
              <a:t>3. AYMEN NIGUSSIE 				ETS 0211/17</a:t>
            </a:r>
          </a:p>
          <a:p>
            <a:r>
              <a:rPr lang="en-US" sz="2400" dirty="0"/>
              <a:t>4. BIRUK ABRHAM 				ETS 0324/17</a:t>
            </a:r>
          </a:p>
          <a:p>
            <a:r>
              <a:rPr lang="en-US" sz="2400" dirty="0"/>
              <a:t>5. DAWIT AREGAWI 				ETS 0418/17</a:t>
            </a:r>
          </a:p>
          <a:p>
            <a:r>
              <a:rPr lang="en-US" sz="2400" dirty="0"/>
              <a:t>6. EDILAWIT SAFEWORK		ETS0464/17</a:t>
            </a:r>
          </a:p>
        </p:txBody>
      </p:sp>
    </p:spTree>
    <p:extLst>
      <p:ext uri="{BB962C8B-B14F-4D97-AF65-F5344CB8AC3E}">
        <p14:creationId xmlns:p14="http://schemas.microsoft.com/office/powerpoint/2010/main" val="180386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710</TotalTime>
  <Words>1197</Words>
  <Application>Microsoft Office PowerPoint</Application>
  <PresentationFormat>Widescreen</PresentationFormat>
  <Paragraphs>269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Consolas</vt:lpstr>
      <vt:lpstr>Courier New</vt:lpstr>
      <vt:lpstr>Gill Sans MT</vt:lpstr>
      <vt:lpstr>Wingdings</vt:lpstr>
      <vt:lpstr>Gallery</vt:lpstr>
      <vt:lpstr>Electronic Voting System</vt:lpstr>
      <vt:lpstr>The Problem We Are Solving</vt:lpstr>
      <vt:lpstr>Why This System and What It Aims to Do</vt:lpstr>
      <vt:lpstr>What the System Covers and How It Was Built</vt:lpstr>
      <vt:lpstr>Database Design — The Blueprint</vt:lpstr>
      <vt:lpstr>ER Diagram</vt:lpstr>
      <vt:lpstr>Logical Design</vt:lpstr>
      <vt:lpstr>Entities and Their Relationships</vt:lpstr>
      <vt:lpstr>Implementation — MySQL Database</vt:lpstr>
      <vt:lpstr>Implementation — Vote Counting Query</vt:lpstr>
      <vt:lpstr>MongoDB NoSQL Database</vt:lpstr>
      <vt:lpstr>Input, Output and Reports</vt:lpstr>
      <vt:lpstr>Normalization — From UNF to BCNF</vt:lpstr>
      <vt:lpstr>What Was Achieved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Alazar Walle</dc:creator>
  <cp:lastModifiedBy>birukabrhamet@gmail.com</cp:lastModifiedBy>
  <cp:revision>10</cp:revision>
  <dcterms:created xsi:type="dcterms:W3CDTF">2026-05-03T10:09:46Z</dcterms:created>
  <dcterms:modified xsi:type="dcterms:W3CDTF">2026-05-22T06:00:23Z</dcterms:modified>
</cp:coreProperties>
</file>